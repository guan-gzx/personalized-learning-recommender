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430"/>
                </a:solidFill>
                <a:latin typeface="Microsoft YaHei"/>
              </a:rPr>
              <a:t>基于知识图谱与遗忘曲线的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6231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87E8B"/>
                </a:solidFill>
                <a:latin typeface="Microsoft YaHei"/>
              </a:rPr>
              <a:t>个性化习题推荐系统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0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Microsoft YaHei"/>
              </a:rPr>
              <a:t>综合实训项目答辩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097280"/>
            <a:ext cx="2194560" cy="41148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25712" y="1417320"/>
            <a:ext cx="1773936" cy="530352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7152" y="1536192"/>
            <a:ext cx="1572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87E8B"/>
                </a:solidFill>
                <a:latin typeface="Microsoft YaHei"/>
              </a:rPr>
              <a:t>答题事件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25712" y="2286000"/>
            <a:ext cx="1773936" cy="530352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52" y="2404872"/>
            <a:ext cx="1572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87E8B"/>
                </a:solidFill>
                <a:latin typeface="Microsoft YaHei"/>
              </a:rPr>
              <a:t>知识图谱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25712" y="3154680"/>
            <a:ext cx="1773936" cy="530352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3273552"/>
            <a:ext cx="1572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87E8B"/>
                </a:solidFill>
                <a:latin typeface="Microsoft YaHei"/>
              </a:rPr>
              <a:t>遗忘门控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5712" y="4023359"/>
            <a:ext cx="1773936" cy="530352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4142231"/>
            <a:ext cx="15727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87E8B"/>
                </a:solidFill>
                <a:latin typeface="Microsoft YaHei"/>
              </a:rPr>
              <a:t>推荐结果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3036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Python · SQLite · 知识图谱 · 时序门控模型 ·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任务目标与问题界定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把实训要求拆分为可验证的工程模块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109728" cy="38404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5544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Microsoft YaHei"/>
              </a:rPr>
              <a:t>学习问题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01952"/>
            <a:ext cx="2834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固定题单忽略学生基础差异和遗忘节奏。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27632"/>
            <a:ext cx="109728" cy="384048"/>
          </a:xfrm>
          <a:prstGeom prst="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5544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Microsoft YaHei"/>
              </a:rPr>
              <a:t>系统目标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901952"/>
            <a:ext cx="2834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为每名学生推荐下一道最有价值的练习。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627632"/>
            <a:ext cx="109728" cy="384048"/>
          </a:xfrm>
          <a:prstGeom prst="rect">
            <a:avLst/>
          </a:prstGeom>
          <a:solidFill>
            <a:srgbClr val="CF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15544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Microsoft YaHei"/>
              </a:rPr>
              <a:t>验收要点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1901952"/>
            <a:ext cx="2834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图谱、数据库、时序模型、指标与 Web 展示。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10698480" cy="132588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096512"/>
            <a:ext cx="10058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1B2430"/>
                </a:solidFill>
                <a:latin typeface="Microsoft YaHei"/>
              </a:rPr>
              <a:t>核心原则：推荐结论必须可解释；演示数据与真实数据结论必须严格区分。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一次答题如何变成下一题推荐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1508760" cy="73152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615184"/>
            <a:ext cx="1362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9FC"/>
                </a:solidFill>
                <a:latin typeface="Microsoft YaHei"/>
              </a:rPr>
              <a:t>Web 答题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377440"/>
            <a:ext cx="1508760" cy="731520"/>
          </a:xfrm>
          <a:prstGeom prst="round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2615184"/>
            <a:ext cx="1362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9FC"/>
                </a:solidFill>
                <a:latin typeface="Microsoft YaHei"/>
              </a:rPr>
              <a:t>SQLite 事件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377440"/>
            <a:ext cx="1508760" cy="73152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2" y="2615184"/>
            <a:ext cx="1362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9FC"/>
                </a:solidFill>
                <a:latin typeface="Microsoft YaHei"/>
              </a:rPr>
              <a:t>图谱 + 门控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377440"/>
            <a:ext cx="1508760" cy="731520"/>
          </a:xfrm>
          <a:prstGeom prst="round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615184"/>
            <a:ext cx="1362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9FC"/>
                </a:solidFill>
                <a:latin typeface="Microsoft YaHei"/>
              </a:rPr>
              <a:t>排序服务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377440"/>
            <a:ext cx="1508760" cy="73152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2615184"/>
            <a:ext cx="1362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7F9FC"/>
                </a:solidFill>
                <a:latin typeface="Microsoft YaHei"/>
              </a:rPr>
              <a:t>仪表盘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5877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877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877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5877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14800"/>
            <a:ext cx="9784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>
                <a:solidFill>
                  <a:srgbClr val="1B2430"/>
                </a:solidFill>
                <a:latin typeface="Microsoft YaHei"/>
              </a:rPr>
              <a:t>模块边界清晰：数据层保存事实，模型层估计状态，服务层排序，界面层解释与交互。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知识图谱与数据设计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前置关系约束学习路径，交互日志提供时序证据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417320" cy="59436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487168"/>
            <a:ext cx="1344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Microsoft YaHei"/>
              </a:rPr>
              <a:t>整数运算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286000"/>
            <a:ext cx="1417320" cy="594360"/>
          </a:xfrm>
          <a:prstGeom prst="round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2487168"/>
            <a:ext cx="1344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Microsoft YaHei"/>
              </a:rPr>
              <a:t>分数运算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286000"/>
            <a:ext cx="1417320" cy="594360"/>
          </a:xfrm>
          <a:prstGeom prst="roundRect">
            <a:avLst/>
          </a:prstGeom>
          <a:solidFill>
            <a:srgbClr val="CF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1496" y="2487168"/>
            <a:ext cx="1344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Microsoft YaHei"/>
              </a:rPr>
              <a:t>一元一次方程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286000"/>
            <a:ext cx="1417320" cy="59436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487168"/>
            <a:ext cx="1344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Microsoft YaHei"/>
              </a:rPr>
              <a:t>一次函数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69080"/>
            <a:ext cx="1417320" cy="594360"/>
          </a:xfrm>
          <a:prstGeom prst="round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4270248"/>
            <a:ext cx="1344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7F9FC"/>
                </a:solidFill>
                <a:latin typeface="Microsoft YaHei"/>
              </a:rPr>
              <a:t>三角形面积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4505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4505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4505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096512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2430"/>
                </a:solidFill>
                <a:latin typeface="Microsoft YaHei"/>
              </a:rPr>
              <a:t>4 张核心表</a:t>
            </a:r>
            <a:br/>
            <a:r>
              <a:t>知识点 / 关系 / 习题 / 交互事件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时间感知的遗忘门控模型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输入门、遗忘门、输出门共同更新知识掌握状态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103120" cy="256032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2430"/>
                </a:solidFill>
                <a:latin typeface="Microsoft YaHei"/>
              </a:rPr>
              <a:t>事件特征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Microsoft YaHei"/>
              </a:rPr>
              <a:t>答题正误</a:t>
            </a:r>
            <a:br/>
            <a:r>
              <a:t>题目难度</a:t>
            </a:r>
            <a:br/>
            <a:r>
              <a:t>间隔时间</a:t>
            </a:r>
            <a:br/>
            <a:r>
              <a:t>历史状态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944" y="265176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45920"/>
            <a:ext cx="2743200" cy="256032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02996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7F9FC"/>
                </a:solidFill>
                <a:latin typeface="Microsoft YaHei"/>
              </a:rPr>
              <a:t>LSTM 风格门控单元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670048"/>
            <a:ext cx="2057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7F9FC"/>
                </a:solidFill>
                <a:latin typeface="Microsoft YaHei"/>
              </a:rPr>
              <a:t>fₜ = σ(Wf·xₜ + b)</a:t>
            </a:r>
            <a:br/>
            <a:r>
              <a:t>cₜ = fₜcₜ₋₁ + iₜgₜ</a:t>
            </a:r>
            <a:br/>
            <a:r>
              <a:t>hₜ = oₜtanh(cₜ)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1645920"/>
            <a:ext cx="4023360" cy="2560320"/>
          </a:xfrm>
          <a:prstGeom prst="roundRect">
            <a:avLst/>
          </a:prstGeom>
          <a:solidFill>
            <a:srgbClr val="FE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203911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2430"/>
                </a:solidFill>
                <a:latin typeface="Microsoft YaHei"/>
              </a:rPr>
              <a:t>掌握度 + 解释信息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1" y="2743200"/>
            <a:ext cx="3337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Microsoft YaHei"/>
              </a:rPr>
              <a:t>掌握度：0.02–0.98</a:t>
            </a:r>
            <a:br/>
            <a:r>
              <a:t>遗忘门值、最近练习间隔</a:t>
            </a:r>
            <a:br/>
            <a:r>
              <a:t>作为推荐理由的证据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推荐排序与可解释性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不只给出题目，也说明“为什么是这道题”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87E8B"/>
                </a:solidFill>
                <a:latin typeface="Microsoft YaHei"/>
              </a:rPr>
              <a:t>score = 0.56 × 薄弱 + 0.20 × 前置缺口 + 0.12 × 难度 + 0.12 × 图谱匹配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240280"/>
            <a:ext cx="2743200" cy="685800"/>
          </a:xfrm>
          <a:prstGeom prst="roundRect">
            <a:avLst/>
          </a:prstGeom>
          <a:solidFill>
            <a:srgbClr val="CF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68880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Microsoft YaHei"/>
              </a:rPr>
              <a:t>掌握度偏低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39572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Microsoft YaHei"/>
              </a:rPr>
              <a:t>优先巩固当前知识点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273552"/>
            <a:ext cx="2743200" cy="685800"/>
          </a:xfrm>
          <a:prstGeom prst="round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5021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Microsoft YaHei"/>
              </a:rPr>
              <a:t>前置知识缺口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4290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Microsoft YaHei"/>
              </a:rPr>
              <a:t>先补基础再进入后继内容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4306824"/>
            <a:ext cx="2743200" cy="6858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7F9FC"/>
                </a:solidFill>
                <a:latin typeface="Microsoft YaHei"/>
              </a:rPr>
              <a:t>遗忘复习窗口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46227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B2430"/>
                </a:solidFill>
                <a:latin typeface="Microsoft YaHei"/>
              </a:rPr>
              <a:t>间隔较久时主动提醒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920240"/>
            <a:ext cx="2011680" cy="292608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2240280"/>
            <a:ext cx="1517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2430"/>
                </a:solidFill>
                <a:latin typeface="Microsoft YaHei"/>
              </a:rPr>
              <a:t>推荐卡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834640"/>
            <a:ext cx="14630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分数运算</a:t>
            </a:r>
            <a:br/>
            <a:r>
              <a:t>掌握概率 40%</a:t>
            </a:r>
            <a:br/>
            <a:r>
              <a:t>弱项邻域匹配 69%</a:t>
            </a:r>
            <a:br/>
            <a:r>
              <a:t>前置基础待复习</a:t>
            </a:r>
            <a:br/>
            <a:r>
              <a:t>[开始练习]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Web 系统与数据库落地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答题、存储、状态更新和展示形成闭环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4663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128016" cy="13258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6537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2430"/>
                </a:solidFill>
                <a:latin typeface="Microsoft YaHei"/>
              </a:rPr>
              <a:t>学习面板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推荐卡、知识状态图谱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4663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128016" cy="1325880"/>
          </a:xfrm>
          <a:prstGeom prst="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6537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2430"/>
                </a:solidFill>
                <a:latin typeface="Microsoft YaHei"/>
              </a:rPr>
              <a:t>答题页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单选交互与即时反馈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4663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566160"/>
            <a:ext cx="128016" cy="132588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31335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2430"/>
                </a:solidFill>
                <a:latin typeface="Microsoft YaHei"/>
              </a:rPr>
              <a:t>数据接口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60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JSON 仪表盘数据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66160"/>
            <a:ext cx="4663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66160"/>
            <a:ext cx="128016" cy="1325880"/>
          </a:xfrm>
          <a:prstGeom prst="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31335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2430"/>
                </a:solidFill>
                <a:latin typeface="Microsoft YaHei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60"/>
            <a:ext cx="3566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可追溯事件记录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演示数据上的离线评估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按时间留出最后 12 条记录；此页不是真实教学效果声明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331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2331720" cy="10058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87E8B"/>
                </a:solidFill>
                <a:latin typeface="Microsoft YaHei"/>
              </a:rPr>
              <a:t>0.400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614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Precision@5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828800"/>
            <a:ext cx="2331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828800"/>
            <a:ext cx="2331720" cy="100584"/>
          </a:xfrm>
          <a:prstGeom prst="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22199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C8A16"/>
                </a:solidFill>
                <a:latin typeface="Microsoft YaHei"/>
              </a:rP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7614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Recall@5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828800"/>
            <a:ext cx="2331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8504" y="1828800"/>
            <a:ext cx="2331720" cy="10058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22199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87E8B"/>
                </a:solidFill>
                <a:latin typeface="Microsoft YaHei"/>
              </a:rPr>
              <a:t>0.553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7614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NDCG@5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828800"/>
            <a:ext cx="2331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4856" y="1828800"/>
            <a:ext cx="2331720" cy="100584"/>
          </a:xfrm>
          <a:prstGeom prst="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222199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C8A16"/>
                </a:solidFill>
                <a:latin typeface="Microsoft YaHei"/>
              </a:rPr>
              <a:t>0.029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7614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Model Gain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652760" cy="786384"/>
          </a:xfrm>
          <a:prstGeom prst="roundRect">
            <a:avLst/>
          </a:prstGeom>
          <a:solidFill>
            <a:srgbClr val="FE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1655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B2430"/>
                </a:solidFill>
                <a:latin typeface="Microsoft YaHei"/>
              </a:rPr>
              <a:t>真实实验必须导入经授权 ASSISTments/EdNet 数据，按学生和时间切分后重新训练、对比与报告。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验收演示流程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三分钟完成一次可见、可追溯的推荐闭环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828800"/>
            <a:ext cx="22402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66543"/>
            <a:ext cx="365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87E8B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2430"/>
                </a:solidFill>
                <a:latin typeface="Microsoft YaHei"/>
              </a:rPr>
              <a:t>初始化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2783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生成数据库与演示数据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7706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828800"/>
            <a:ext cx="22402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066543"/>
            <a:ext cx="365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87E8B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2430"/>
                </a:solidFill>
                <a:latin typeface="Microsoft YaHei"/>
              </a:rPr>
              <a:t>打开面板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22783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查看推荐与知识状态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27706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828800"/>
            <a:ext cx="22402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066543"/>
            <a:ext cx="365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87E8B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2430"/>
                </a:solidFill>
                <a:latin typeface="Microsoft YaHei"/>
              </a:rPr>
              <a:t>完成答题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22783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提交一道推荐练习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277063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25711" y="1828800"/>
            <a:ext cx="22402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1" y="2066543"/>
            <a:ext cx="365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87E8B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1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2430"/>
                </a:solidFill>
                <a:latin typeface="Microsoft YaHei"/>
              </a:rPr>
              <a:t>回到面板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1" y="322783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观察状态和推荐更新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四周计划与后续实验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从可运行原型走向真实数据验证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194560" cy="16002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7F9FC"/>
                </a:solidFill>
                <a:latin typeface="Microsoft YaHei"/>
              </a:rPr>
              <a:t>第 1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62072"/>
            <a:ext cx="1792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7F9FC"/>
                </a:solidFill>
                <a:latin typeface="Microsoft YaHei"/>
              </a:rPr>
              <a:t>需求、数据调研、图谱设计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011680"/>
            <a:ext cx="2194560" cy="1600200"/>
          </a:xfrm>
          <a:prstGeom prst="round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359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7F9FC"/>
                </a:solidFill>
                <a:latin typeface="Microsoft YaHei"/>
              </a:rPr>
              <a:t>第 2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2862072"/>
            <a:ext cx="1792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7F9FC"/>
                </a:solidFill>
                <a:latin typeface="Microsoft YaHei"/>
              </a:rPr>
              <a:t>数据库、模型与原型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2011680"/>
            <a:ext cx="2194560" cy="160020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2359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7F9FC"/>
                </a:solidFill>
                <a:latin typeface="Microsoft YaHei"/>
              </a:rPr>
              <a:t>第 3 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3" y="2862072"/>
            <a:ext cx="1792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7F9FC"/>
                </a:solidFill>
                <a:latin typeface="Microsoft YaHei"/>
              </a:rPr>
              <a:t>系统集成、真实数据复现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3144" y="2011680"/>
            <a:ext cx="2194560" cy="1600200"/>
          </a:xfrm>
          <a:prstGeom prst="roundRect">
            <a:avLst/>
          </a:prstGeom>
          <a:solidFill>
            <a:srgbClr val="DC8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2359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7F9FC"/>
                </a:solidFill>
                <a:latin typeface="Microsoft YaHei"/>
              </a:rPr>
              <a:t>第 4 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2862072"/>
            <a:ext cx="1792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7F9FC"/>
                </a:solidFill>
                <a:latin typeface="Microsoft YaHei"/>
              </a:rPr>
              <a:t>对比实验、论文和答辩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B2430"/>
                </a:solidFill>
                <a:latin typeface="Microsoft YaHei"/>
              </a:rPr>
              <a:t>真实实验补充：训练门控参数、设置随机/正确率/无图谱基线、报告均值与方差、分析误判。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430"/>
                </a:solidFill>
                <a:latin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完成可运行、可解释、可复现实验链路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4754880" cy="86868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020824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B2430"/>
                </a:solidFill>
                <a:latin typeface="Microsoft YaHei"/>
              </a:rPr>
              <a:t>知识图谱约束路径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4754880" cy="86868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020824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B2430"/>
                </a:solidFill>
                <a:latin typeface="Microsoft YaHei"/>
              </a:rPr>
              <a:t>时间门控估计掌握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63239"/>
            <a:ext cx="4754880" cy="86868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346703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B2430"/>
                </a:solidFill>
                <a:latin typeface="Microsoft YaHei"/>
              </a:rPr>
              <a:t>SQLite 保存学习证据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063239"/>
            <a:ext cx="4754880" cy="86868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3346703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B2430"/>
                </a:solidFill>
                <a:latin typeface="Microsoft YaHei"/>
              </a:rPr>
              <a:t>Web 形成交互闭环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92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CF4E4E"/>
                </a:solidFill>
                <a:latin typeface="Microsoft YaHei"/>
              </a:rPr>
              <a:t>限制：随附的是透明演示数据。真实教育结论须基于经授权数据和独立实验。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595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087E8B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